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5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48" y="7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F2751-13FC-4F72-9290-D7AC2F263B55}" type="datetimeFigureOut">
              <a:rPr lang="de-DE" smtClean="0"/>
              <a:t>08.11.2024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B30813-44BB-4E88-AD42-620A8BBE738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6451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B30813-44BB-4E88-AD42-620A8BBE7388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6948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C14CE-4F5D-4035-AD8E-30CF05007AC6}" type="datetimeFigureOut">
              <a:rPr lang="de-DE" smtClean="0"/>
              <a:t>08.11.2024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7CEE-9B58-4F28-9ACB-88B34CAA47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2356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C14CE-4F5D-4035-AD8E-30CF05007AC6}" type="datetimeFigureOut">
              <a:rPr lang="de-DE" smtClean="0"/>
              <a:t>08.11.2024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7CEE-9B58-4F28-9ACB-88B34CAA47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7278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C14CE-4F5D-4035-AD8E-30CF05007AC6}" type="datetimeFigureOut">
              <a:rPr lang="de-DE" smtClean="0"/>
              <a:t>08.11.2024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7CEE-9B58-4F28-9ACB-88B34CAA47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4387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C14CE-4F5D-4035-AD8E-30CF05007AC6}" type="datetimeFigureOut">
              <a:rPr lang="de-DE" smtClean="0"/>
              <a:t>08.11.2024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7CEE-9B58-4F28-9ACB-88B34CAA47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482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C14CE-4F5D-4035-AD8E-30CF05007AC6}" type="datetimeFigureOut">
              <a:rPr lang="de-DE" smtClean="0"/>
              <a:t>08.11.2024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7CEE-9B58-4F28-9ACB-88B34CAA47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686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C14CE-4F5D-4035-AD8E-30CF05007AC6}" type="datetimeFigureOut">
              <a:rPr lang="de-DE" smtClean="0"/>
              <a:t>08.11.2024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7CEE-9B58-4F28-9ACB-88B34CAA47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9049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C14CE-4F5D-4035-AD8E-30CF05007AC6}" type="datetimeFigureOut">
              <a:rPr lang="de-DE" smtClean="0"/>
              <a:t>08.11.2024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7CEE-9B58-4F28-9ACB-88B34CAA47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4226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C14CE-4F5D-4035-AD8E-30CF05007AC6}" type="datetimeFigureOut">
              <a:rPr lang="de-DE" smtClean="0"/>
              <a:t>08.11.2024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7CEE-9B58-4F28-9ACB-88B34CAA47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7292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C14CE-4F5D-4035-AD8E-30CF05007AC6}" type="datetimeFigureOut">
              <a:rPr lang="de-DE" smtClean="0"/>
              <a:t>08.11.2024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7CEE-9B58-4F28-9ACB-88B34CAA47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5284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C14CE-4F5D-4035-AD8E-30CF05007AC6}" type="datetimeFigureOut">
              <a:rPr lang="de-DE" smtClean="0"/>
              <a:t>08.11.2024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7CEE-9B58-4F28-9ACB-88B34CAA47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137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C14CE-4F5D-4035-AD8E-30CF05007AC6}" type="datetimeFigureOut">
              <a:rPr lang="de-DE" smtClean="0"/>
              <a:t>08.11.2024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7CEE-9B58-4F28-9ACB-88B34CAA47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2869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C14CE-4F5D-4035-AD8E-30CF05007AC6}" type="datetimeFigureOut">
              <a:rPr lang="de-DE" smtClean="0"/>
              <a:t>08.11.2024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A7CEE-9B58-4F28-9ACB-88B34CAA47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8896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307571" y="266007"/>
            <a:ext cx="4278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Fullmo flat/shortTRACK 3-Achs-Messedemo</a:t>
            </a:r>
            <a:endParaRPr lang="de-DE" dirty="0"/>
          </a:p>
        </p:txBody>
      </p:sp>
      <p:sp>
        <p:nvSpPr>
          <p:cNvPr id="5" name="Textfeld 4"/>
          <p:cNvSpPr txBox="1"/>
          <p:nvPr/>
        </p:nvSpPr>
        <p:spPr>
          <a:xfrm>
            <a:off x="75320" y="41309"/>
            <a:ext cx="56561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 smtClean="0"/>
              <a:t>2024-11-06  </a:t>
            </a:r>
            <a:r>
              <a:rPr lang="de-DE" sz="1000" dirty="0" err="1" smtClean="0"/>
              <a:t>O.Heggelbacher</a:t>
            </a:r>
            <a:endParaRPr lang="de-DE" sz="1000" dirty="0"/>
          </a:p>
        </p:txBody>
      </p:sp>
      <p:sp>
        <p:nvSpPr>
          <p:cNvPr id="7" name="Würfel 6"/>
          <p:cNvSpPr/>
          <p:nvPr/>
        </p:nvSpPr>
        <p:spPr>
          <a:xfrm>
            <a:off x="307571" y="2851265"/>
            <a:ext cx="4380807" cy="818804"/>
          </a:xfrm>
          <a:prstGeom prst="cube">
            <a:avLst>
              <a:gd name="adj" fmla="val 5951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Würfel 5"/>
          <p:cNvSpPr/>
          <p:nvPr/>
        </p:nvSpPr>
        <p:spPr>
          <a:xfrm>
            <a:off x="1075243" y="2078180"/>
            <a:ext cx="2743199" cy="2111433"/>
          </a:xfrm>
          <a:prstGeom prst="cube">
            <a:avLst>
              <a:gd name="adj" fmla="val 83703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Würfel 7"/>
          <p:cNvSpPr/>
          <p:nvPr/>
        </p:nvSpPr>
        <p:spPr>
          <a:xfrm>
            <a:off x="1075243" y="3318856"/>
            <a:ext cx="1005840" cy="1471352"/>
          </a:xfrm>
          <a:prstGeom prst="cube">
            <a:avLst>
              <a:gd name="adj" fmla="val 16209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/>
          <p:cNvSpPr txBox="1"/>
          <p:nvPr/>
        </p:nvSpPr>
        <p:spPr>
          <a:xfrm>
            <a:off x="4023359" y="2959915"/>
            <a:ext cx="46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/>
              <a:t>X</a:t>
            </a:r>
            <a:endParaRPr lang="de-DE" b="1" dirty="0"/>
          </a:p>
        </p:txBody>
      </p:sp>
      <p:sp>
        <p:nvSpPr>
          <p:cNvPr id="12" name="Textfeld 11"/>
          <p:cNvSpPr txBox="1"/>
          <p:nvPr/>
        </p:nvSpPr>
        <p:spPr>
          <a:xfrm>
            <a:off x="2843213" y="2095391"/>
            <a:ext cx="46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/>
              <a:t>Y</a:t>
            </a:r>
            <a:endParaRPr lang="de-DE" b="1" dirty="0"/>
          </a:p>
        </p:txBody>
      </p:sp>
      <p:sp>
        <p:nvSpPr>
          <p:cNvPr id="13" name="Textfeld 12"/>
          <p:cNvSpPr txBox="1"/>
          <p:nvPr/>
        </p:nvSpPr>
        <p:spPr>
          <a:xfrm>
            <a:off x="1256672" y="3680336"/>
            <a:ext cx="46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/>
              <a:t>Z</a:t>
            </a:r>
            <a:endParaRPr lang="de-DE" b="1" dirty="0"/>
          </a:p>
        </p:txBody>
      </p:sp>
      <p:cxnSp>
        <p:nvCxnSpPr>
          <p:cNvPr id="17" name="Gerade Verbindung mit Pfeil 16"/>
          <p:cNvCxnSpPr/>
          <p:nvPr/>
        </p:nvCxnSpPr>
        <p:spPr>
          <a:xfrm flipH="1" flipV="1">
            <a:off x="3374841" y="3144581"/>
            <a:ext cx="621426" cy="10048"/>
          </a:xfrm>
          <a:prstGeom prst="straightConnector1">
            <a:avLst/>
          </a:prstGeom>
          <a:ln w="412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/>
          <p:cNvCxnSpPr/>
          <p:nvPr/>
        </p:nvCxnSpPr>
        <p:spPr>
          <a:xfrm flipH="1">
            <a:off x="2328085" y="2389130"/>
            <a:ext cx="575290" cy="537729"/>
          </a:xfrm>
          <a:prstGeom prst="straightConnector1">
            <a:avLst/>
          </a:prstGeom>
          <a:ln w="412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/>
          <p:cNvCxnSpPr/>
          <p:nvPr/>
        </p:nvCxnSpPr>
        <p:spPr>
          <a:xfrm>
            <a:off x="1380507" y="4059936"/>
            <a:ext cx="0" cy="628685"/>
          </a:xfrm>
          <a:prstGeom prst="straightConnector1">
            <a:avLst/>
          </a:prstGeom>
          <a:ln w="412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/>
          <p:cNvSpPr txBox="1"/>
          <p:nvPr/>
        </p:nvSpPr>
        <p:spPr>
          <a:xfrm>
            <a:off x="270887" y="840508"/>
            <a:ext cx="52155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smtClean="0"/>
              <a:t>X   IP192.168.2.153	3axis_flattrack_axis1_x_base.py</a:t>
            </a:r>
            <a:br>
              <a:rPr lang="de-DE" sz="1400" dirty="0" smtClean="0"/>
            </a:br>
            <a:r>
              <a:rPr lang="de-DE" sz="1400" dirty="0" smtClean="0"/>
              <a:t>Y   IP 192.168.2.154	3axis_flattrack_axis2_y_middle.py</a:t>
            </a:r>
            <a:br>
              <a:rPr lang="de-DE" sz="1400" dirty="0" smtClean="0"/>
            </a:br>
            <a:r>
              <a:rPr lang="de-DE" sz="1400" dirty="0" smtClean="0"/>
              <a:t>Z   IP 192.168.2.155</a:t>
            </a:r>
            <a:r>
              <a:rPr lang="de-DE" sz="1400" smtClean="0"/>
              <a:t>	</a:t>
            </a:r>
            <a:r>
              <a:rPr lang="de-DE" sz="1400"/>
              <a:t>3axis_shorttrack_axis3_z_vertical.py</a:t>
            </a:r>
            <a:endParaRPr lang="de-DE" sz="1400" dirty="0"/>
          </a:p>
        </p:txBody>
      </p:sp>
      <p:graphicFrame>
        <p:nvGraphicFramePr>
          <p:cNvPr id="27" name="Tabel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118214"/>
              </p:ext>
            </p:extLst>
          </p:nvPr>
        </p:nvGraphicFramePr>
        <p:xfrm>
          <a:off x="6754808" y="885276"/>
          <a:ext cx="4565660" cy="2241955"/>
        </p:xfrm>
        <a:graphic>
          <a:graphicData uri="http://schemas.openxmlformats.org/drawingml/2006/table">
            <a:tbl>
              <a:tblPr/>
              <a:tblGrid>
                <a:gridCol w="533888"/>
                <a:gridCol w="1132210"/>
                <a:gridCol w="2006681"/>
                <a:gridCol w="892881"/>
              </a:tblGrid>
              <a:tr h="557055">
                <a:tc gridSpan="4">
                  <a:txBody>
                    <a:bodyPr/>
                    <a:lstStyle/>
                    <a:p>
                      <a:pPr fontAlgn="b"/>
                      <a:r>
                        <a:rPr lang="de-DE" sz="800" dirty="0">
                          <a:effectLst/>
                        </a:rPr>
                        <a:t/>
                      </a:r>
                      <a:br>
                        <a:rPr lang="de-DE" sz="800" dirty="0">
                          <a:effectLst/>
                        </a:rPr>
                      </a:br>
                      <a:r>
                        <a:rPr lang="de-DE" sz="800" dirty="0">
                          <a:effectLst/>
                        </a:rPr>
                        <a:t>MCFLAT ETH (MovingCap flatTRACK Ethernet)</a:t>
                      </a:r>
                      <a:br>
                        <a:rPr lang="de-DE" sz="800" dirty="0">
                          <a:effectLst/>
                        </a:rPr>
                      </a:br>
                      <a:r>
                        <a:rPr lang="de-DE" sz="800" dirty="0">
                          <a:effectLst/>
                        </a:rPr>
                        <a:t>MCSHORT ETH (MovingCap shortTRACK Ethernet)</a:t>
                      </a:r>
                      <a:br>
                        <a:rPr lang="de-DE" sz="800" dirty="0">
                          <a:effectLst/>
                        </a:rPr>
                      </a:br>
                      <a:r>
                        <a:rPr lang="de-DE" sz="800" dirty="0">
                          <a:effectLst/>
                        </a:rPr>
                        <a:t>POWER + I/O </a:t>
                      </a:r>
                      <a:br>
                        <a:rPr lang="de-DE" sz="800" dirty="0">
                          <a:effectLst/>
                        </a:rPr>
                      </a:br>
                      <a:r>
                        <a:rPr lang="de-DE" sz="800" dirty="0">
                          <a:effectLst/>
                        </a:rPr>
                        <a:t>M12 Buchse Hybrid, 8-polig, Kodierung: Y</a:t>
                      </a:r>
                    </a:p>
                  </a:txBody>
                  <a:tcPr marL="46291" marR="46291" marT="23145" marB="2314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139589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b="1">
                          <a:effectLst/>
                        </a:rPr>
                        <a:t>Pin</a:t>
                      </a:r>
                      <a:endParaRPr lang="de-DE" sz="800">
                        <a:effectLst/>
                      </a:endParaRP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b="1">
                          <a:effectLst/>
                        </a:rPr>
                        <a:t>Bezeichnung</a:t>
                      </a:r>
                      <a:endParaRPr lang="de-DE" sz="800">
                        <a:effectLst/>
                      </a:endParaRP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b="1">
                          <a:effectLst/>
                        </a:rPr>
                        <a:t>Beschreibung</a:t>
                      </a:r>
                      <a:endParaRPr lang="de-DE" sz="800">
                        <a:effectLst/>
                      </a:endParaRP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b="1">
                          <a:effectLst/>
                        </a:rPr>
                        <a:t>Farbe *1)</a:t>
                      </a:r>
                      <a:endParaRPr lang="de-DE" sz="800">
                        <a:effectLst/>
                      </a:endParaRP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385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1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IN10 (opt. HW_EN)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Digitaleingang 24 Vdc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weiß/orange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589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2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IO1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Digitalein/-ausgang 24 Vdc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orange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589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3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IN8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Digitaleingang 24 Vdc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weiß/grün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589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4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IO2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Digitalein/-ausgang 24 Vdc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grün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589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5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U_PWR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Leistungsversorgung 24-48 Vdc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blau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589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6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GND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dirty="0">
                          <a:effectLst/>
                        </a:rPr>
                        <a:t>GND Logik + Power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weiß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589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7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U_LOGIK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Logikversorgung 24 Vdc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braun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589"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>
                          <a:effectLst/>
                        </a:rPr>
                        <a:t>8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dirty="0">
                          <a:effectLst/>
                        </a:rPr>
                        <a:t>IN7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dirty="0">
                          <a:effectLst/>
                        </a:rPr>
                        <a:t>Digitaleingang 24 </a:t>
                      </a:r>
                      <a:r>
                        <a:rPr lang="de-DE" sz="800" dirty="0" err="1">
                          <a:effectLst/>
                        </a:rPr>
                        <a:t>Vdc</a:t>
                      </a:r>
                      <a:endParaRPr lang="de-DE" sz="800" dirty="0">
                        <a:effectLst/>
                      </a:endParaRP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800" dirty="0">
                          <a:effectLst/>
                        </a:rPr>
                        <a:t>schwarz</a:t>
                      </a:r>
                    </a:p>
                  </a:txBody>
                  <a:tcPr marL="46291" marR="46291" marT="23145" marB="2314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AutoShape 2" descr="mcshort_connectors"/>
          <p:cNvSpPr>
            <a:spLocks noChangeAspect="1" noChangeArrowheads="1"/>
          </p:cNvSpPr>
          <p:nvPr/>
        </p:nvSpPr>
        <p:spPr bwMode="auto">
          <a:xfrm>
            <a:off x="5294313" y="-1695450"/>
            <a:ext cx="3743325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30" name="AutoShape 3" descr="Power Connector: M12 hybrid socket y-coded"/>
          <p:cNvSpPr>
            <a:spLocks noChangeAspect="1" noChangeArrowheads="1"/>
          </p:cNvSpPr>
          <p:nvPr/>
        </p:nvSpPr>
        <p:spPr bwMode="auto">
          <a:xfrm>
            <a:off x="5138738" y="3090863"/>
            <a:ext cx="1123950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31" name="Textfeld 30"/>
          <p:cNvSpPr txBox="1"/>
          <p:nvPr/>
        </p:nvSpPr>
        <p:spPr>
          <a:xfrm>
            <a:off x="6726311" y="413656"/>
            <a:ext cx="27847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smtClean="0"/>
              <a:t>Anschlussbelegung flat/shortTRACK</a:t>
            </a:r>
            <a:endParaRPr lang="de-DE" sz="1400" dirty="0"/>
          </a:p>
        </p:txBody>
      </p:sp>
      <p:graphicFrame>
        <p:nvGraphicFramePr>
          <p:cNvPr id="35" name="Tabel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123699"/>
              </p:ext>
            </p:extLst>
          </p:nvPr>
        </p:nvGraphicFramePr>
        <p:xfrm>
          <a:off x="6786749" y="3680613"/>
          <a:ext cx="4460919" cy="17270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86973"/>
                <a:gridCol w="1486973"/>
                <a:gridCol w="1486973"/>
              </a:tblGrid>
              <a:tr h="201220"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von</a:t>
                      </a:r>
                      <a:endParaRPr lang="de-DE" sz="1000" dirty="0"/>
                    </a:p>
                  </a:txBody>
                  <a:tcPr marL="50772" marR="50772" marT="25386" marB="25386"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nach</a:t>
                      </a:r>
                      <a:endParaRPr lang="de-DE" sz="1000" dirty="0"/>
                    </a:p>
                  </a:txBody>
                  <a:tcPr marL="50772" marR="50772" marT="25386" marB="25386"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Funktion</a:t>
                      </a:r>
                      <a:endParaRPr lang="de-DE" sz="1000" dirty="0"/>
                    </a:p>
                  </a:txBody>
                  <a:tcPr marL="50772" marR="50772" marT="25386" marB="25386"/>
                </a:tc>
              </a:tr>
              <a:tr h="201220"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24V</a:t>
                      </a:r>
                      <a:r>
                        <a:rPr lang="de-DE" sz="1000" baseline="0" dirty="0" smtClean="0"/>
                        <a:t> DC Logik</a:t>
                      </a:r>
                      <a:endParaRPr lang="de-DE" sz="1000" dirty="0"/>
                    </a:p>
                  </a:txBody>
                  <a:tcPr marL="50772" marR="50772" marT="25386" marB="25386"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Taster/Schalter</a:t>
                      </a:r>
                      <a:r>
                        <a:rPr lang="de-DE" sz="1000" baseline="0" dirty="0" smtClean="0"/>
                        <a:t>.1</a:t>
                      </a:r>
                      <a:endParaRPr lang="de-DE" sz="1000" dirty="0"/>
                    </a:p>
                  </a:txBody>
                  <a:tcPr marL="50772" marR="50772" marT="25386" marB="25386"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Schnellfahrt </a:t>
                      </a:r>
                      <a:r>
                        <a:rPr lang="de-DE" sz="1000" dirty="0" err="1" smtClean="0"/>
                        <a:t>Signalspg</a:t>
                      </a:r>
                      <a:r>
                        <a:rPr lang="de-DE" sz="1000" dirty="0" smtClean="0"/>
                        <a:t>.</a:t>
                      </a:r>
                      <a:endParaRPr lang="de-DE" sz="1000" dirty="0"/>
                    </a:p>
                  </a:txBody>
                  <a:tcPr marL="50772" marR="50772" marT="25386" marB="25386"/>
                </a:tc>
              </a:tr>
              <a:tr h="201220"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Taster/Schalter.2</a:t>
                      </a:r>
                      <a:endParaRPr lang="de-DE" sz="1000" dirty="0"/>
                    </a:p>
                  </a:txBody>
                  <a:tcPr marL="50772" marR="50772" marT="25386" marB="2538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smtClean="0"/>
                        <a:t>X.IN7 schwarz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smtClean="0"/>
                        <a:t>Y.IN7 schwarz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smtClean="0"/>
                        <a:t>Z.IN7 schwarz</a:t>
                      </a:r>
                    </a:p>
                  </a:txBody>
                  <a:tcPr marL="50772" marR="50772" marT="25386" marB="25386"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Schnellfahrt Auslösung</a:t>
                      </a:r>
                      <a:endParaRPr lang="de-DE" sz="1000" dirty="0"/>
                    </a:p>
                  </a:txBody>
                  <a:tcPr marL="50772" marR="50772" marT="25386" marB="25386"/>
                </a:tc>
              </a:tr>
              <a:tr h="201220"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X.IO2 grün</a:t>
                      </a:r>
                      <a:endParaRPr lang="de-DE" sz="1000" dirty="0"/>
                    </a:p>
                  </a:txBody>
                  <a:tcPr marL="50772" marR="50772" marT="25386" marB="25386"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Y.IN8</a:t>
                      </a:r>
                      <a:r>
                        <a:rPr lang="de-DE" sz="1000" baseline="0" dirty="0" smtClean="0"/>
                        <a:t> weiß/grün</a:t>
                      </a:r>
                      <a:endParaRPr lang="de-DE" sz="1000" dirty="0"/>
                    </a:p>
                  </a:txBody>
                  <a:tcPr marL="50772" marR="50772" marT="25386" marB="25386"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Steuerung X </a:t>
                      </a:r>
                      <a:r>
                        <a:rPr lang="de-DE" sz="1000" dirty="0" smtClean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de-DE" sz="1000" dirty="0" smtClean="0"/>
                        <a:t>Y</a:t>
                      </a:r>
                      <a:endParaRPr lang="de-DE" sz="1000" dirty="0"/>
                    </a:p>
                  </a:txBody>
                  <a:tcPr marL="50772" marR="50772" marT="25386" marB="25386"/>
                </a:tc>
              </a:tr>
              <a:tr h="201220"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X.IN10</a:t>
                      </a:r>
                      <a:r>
                        <a:rPr lang="de-DE" sz="1000" baseline="0" dirty="0" smtClean="0"/>
                        <a:t> weiß/orange</a:t>
                      </a:r>
                      <a:endParaRPr lang="de-DE" sz="1000" dirty="0"/>
                    </a:p>
                  </a:txBody>
                  <a:tcPr marL="50772" marR="50772" marT="25386" marB="25386"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Y.IO1</a:t>
                      </a:r>
                      <a:r>
                        <a:rPr lang="de-DE" sz="1000" baseline="0" dirty="0" smtClean="0"/>
                        <a:t> orange</a:t>
                      </a:r>
                      <a:endParaRPr lang="de-DE" sz="1000" dirty="0"/>
                    </a:p>
                  </a:txBody>
                  <a:tcPr marL="50772" marR="50772" marT="25386" marB="25386"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Rückmeldung Y</a:t>
                      </a:r>
                      <a:r>
                        <a:rPr lang="de-DE" sz="1000" baseline="0" dirty="0" smtClean="0"/>
                        <a:t> </a:t>
                      </a:r>
                      <a:r>
                        <a:rPr lang="de-DE" sz="1000" baseline="0" dirty="0" smtClean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de-DE" sz="1000" dirty="0" smtClean="0"/>
                        <a:t>X</a:t>
                      </a:r>
                      <a:r>
                        <a:rPr lang="de-DE" sz="1000" baseline="0" dirty="0" smtClean="0"/>
                        <a:t> </a:t>
                      </a:r>
                      <a:endParaRPr lang="de-DE" sz="1000" dirty="0"/>
                    </a:p>
                  </a:txBody>
                  <a:tcPr marL="50772" marR="50772" marT="25386" marB="25386"/>
                </a:tc>
              </a:tr>
              <a:tr h="201220"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Y.IO2</a:t>
                      </a:r>
                      <a:r>
                        <a:rPr lang="de-DE" sz="1000" baseline="0" dirty="0" smtClean="0"/>
                        <a:t> grün</a:t>
                      </a:r>
                      <a:endParaRPr lang="de-DE" sz="1000" dirty="0"/>
                    </a:p>
                  </a:txBody>
                  <a:tcPr marL="50772" marR="50772" marT="25386" marB="25386"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Z.IN8 weiß/grün</a:t>
                      </a:r>
                      <a:endParaRPr lang="de-DE" sz="1000" dirty="0"/>
                    </a:p>
                  </a:txBody>
                  <a:tcPr marL="50772" marR="50772" marT="25386" marB="25386"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Steuerung Y</a:t>
                      </a:r>
                      <a:r>
                        <a:rPr lang="de-DE" sz="1000" baseline="0" dirty="0" smtClean="0"/>
                        <a:t> </a:t>
                      </a:r>
                      <a:r>
                        <a:rPr lang="de-DE" sz="1000" baseline="0" dirty="0" smtClean="0">
                          <a:sym typeface="Wingdings" panose="05000000000000000000" pitchFamily="2" charset="2"/>
                        </a:rPr>
                        <a:t> Z</a:t>
                      </a:r>
                      <a:endParaRPr lang="de-DE" sz="1000" dirty="0"/>
                    </a:p>
                  </a:txBody>
                  <a:tcPr marL="50772" marR="50772" marT="25386" marB="25386"/>
                </a:tc>
              </a:tr>
              <a:tr h="201220"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Y.IN10 weiß/orange</a:t>
                      </a:r>
                      <a:endParaRPr lang="de-DE" sz="1000" dirty="0"/>
                    </a:p>
                  </a:txBody>
                  <a:tcPr marL="50772" marR="50772" marT="25386" marB="25386"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Z.IO1 orange</a:t>
                      </a:r>
                      <a:endParaRPr lang="de-DE" sz="1000" dirty="0"/>
                    </a:p>
                  </a:txBody>
                  <a:tcPr marL="50772" marR="50772" marT="25386" marB="25386"/>
                </a:tc>
                <a:tc>
                  <a:txBody>
                    <a:bodyPr/>
                    <a:lstStyle/>
                    <a:p>
                      <a:r>
                        <a:rPr lang="de-DE" sz="1000" dirty="0" smtClean="0"/>
                        <a:t>Rückmeldung Z</a:t>
                      </a:r>
                      <a:r>
                        <a:rPr lang="de-DE" sz="1000" baseline="0" dirty="0" smtClean="0"/>
                        <a:t> </a:t>
                      </a:r>
                      <a:r>
                        <a:rPr lang="de-DE" sz="1000" baseline="0" dirty="0" smtClean="0">
                          <a:sym typeface="Wingdings" panose="05000000000000000000" pitchFamily="2" charset="2"/>
                        </a:rPr>
                        <a:t> Y </a:t>
                      </a:r>
                      <a:endParaRPr lang="de-DE" sz="1000" dirty="0"/>
                    </a:p>
                  </a:txBody>
                  <a:tcPr marL="50772" marR="50772" marT="25386" marB="25386"/>
                </a:tc>
              </a:tr>
            </a:tbl>
          </a:graphicData>
        </a:graphic>
      </p:graphicFrame>
      <p:sp>
        <p:nvSpPr>
          <p:cNvPr id="36" name="Textfeld 35"/>
          <p:cNvSpPr txBox="1"/>
          <p:nvPr/>
        </p:nvSpPr>
        <p:spPr>
          <a:xfrm>
            <a:off x="6713048" y="3260667"/>
            <a:ext cx="47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smtClean="0"/>
              <a:t>IO-Verdrahtung Dreiachssystem</a:t>
            </a:r>
            <a:endParaRPr lang="de-DE" sz="1400" dirty="0"/>
          </a:p>
        </p:txBody>
      </p:sp>
      <p:sp>
        <p:nvSpPr>
          <p:cNvPr id="37" name="Textfeld 36"/>
          <p:cNvSpPr txBox="1"/>
          <p:nvPr/>
        </p:nvSpPr>
        <p:spPr>
          <a:xfrm>
            <a:off x="270887" y="4962698"/>
            <a:ext cx="57884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IO-Ablaufsteuerung:</a:t>
            </a:r>
          </a:p>
          <a:p>
            <a:pPr marL="285750" indent="-285750">
              <a:buFontTx/>
              <a:buChar char="-"/>
            </a:pPr>
            <a:r>
              <a:rPr lang="de-DE" dirty="0" smtClean="0"/>
              <a:t>X ist Master, kommandiert Y-Achse</a:t>
            </a:r>
          </a:p>
          <a:p>
            <a:pPr marL="285750" indent="-285750">
              <a:buFontTx/>
              <a:buChar char="-"/>
            </a:pPr>
            <a:r>
              <a:rPr lang="de-DE" dirty="0" smtClean="0"/>
              <a:t>Y-Achse kommandiert Z-Achse</a:t>
            </a:r>
          </a:p>
          <a:p>
            <a:pPr marL="285750" indent="-285750">
              <a:buFontTx/>
              <a:buChar char="-"/>
            </a:pPr>
            <a:r>
              <a:rPr lang="de-DE" dirty="0" smtClean="0"/>
              <a:t>Schnellfahrt-Signal wird an allen drei Achsen an IN7 aufgelegt</a:t>
            </a:r>
          </a:p>
        </p:txBody>
      </p:sp>
    </p:spTree>
    <p:extLst>
      <p:ext uri="{BB962C8B-B14F-4D97-AF65-F5344CB8AC3E}">
        <p14:creationId xmlns:p14="http://schemas.microsoft.com/office/powerpoint/2010/main" val="1357803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Breitbild</PresentationFormat>
  <Paragraphs>73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PowerPoint-Präsentation</vt:lpstr>
    </vt:vector>
  </TitlesOfParts>
  <Company>Flachmann und Heggelbacher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OH</dc:creator>
  <cp:lastModifiedBy>OH</cp:lastModifiedBy>
  <cp:revision>17</cp:revision>
  <dcterms:created xsi:type="dcterms:W3CDTF">2024-11-06T10:38:50Z</dcterms:created>
  <dcterms:modified xsi:type="dcterms:W3CDTF">2024-11-08T14:27:40Z</dcterms:modified>
</cp:coreProperties>
</file>